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342" r:id="rId5"/>
    <p:sldId id="375" r:id="rId6"/>
    <p:sldId id="373" r:id="rId7"/>
    <p:sldId id="384" r:id="rId8"/>
    <p:sldId id="374" r:id="rId9"/>
    <p:sldId id="383" r:id="rId10"/>
    <p:sldId id="382" r:id="rId11"/>
    <p:sldId id="376" r:id="rId12"/>
    <p:sldId id="377" r:id="rId13"/>
    <p:sldId id="380" r:id="rId14"/>
    <p:sldId id="3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presProps" Target="presProps.xml" /><Relationship Id="rId3" Type="http://schemas.openxmlformats.org/officeDocument/2006/relationships/customXml" Target="../customXml/item3.xml" /><Relationship Id="rId21" Type="http://schemas.openxmlformats.org/officeDocument/2006/relationships/tableStyles" Target="tableStyle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handoutMaster" Target="handoutMasters/handoutMaster1.xml" /><Relationship Id="rId2" Type="http://schemas.openxmlformats.org/officeDocument/2006/relationships/customXml" Target="../customXml/item2.xml" /><Relationship Id="rId16" Type="http://schemas.openxmlformats.org/officeDocument/2006/relationships/notesMaster" Target="notesMasters/notesMaster1.xml" /><Relationship Id="rId20"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10" Type="http://schemas.openxmlformats.org/officeDocument/2006/relationships/slide" Target="slides/slide6.xml" /><Relationship Id="rId19" Type="http://schemas.openxmlformats.org/officeDocument/2006/relationships/viewProps" Target="viewProp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microsoft.com/office/2018/10/relationships/authors" Target="author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7/25/2026</a:t>
            </a:fld>
            <a:endParaRPr lang="en-US"/>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7/25/2026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2</a:t>
            </a:fld>
            <a:endParaRPr lang="en-US"/>
          </a:p>
        </p:txBody>
      </p:sp>
    </p:spTree>
    <p:extLst>
      <p:ext uri="{BB962C8B-B14F-4D97-AF65-F5344CB8AC3E}">
        <p14:creationId xmlns:p14="http://schemas.microsoft.com/office/powerpoint/2010/main" val="298252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a:p>
        </p:txBody>
      </p:sp>
    </p:spTree>
    <p:extLst>
      <p:ext uri="{BB962C8B-B14F-4D97-AF65-F5344CB8AC3E}">
        <p14:creationId xmlns:p14="http://schemas.microsoft.com/office/powerpoint/2010/main" val="186016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5</a:t>
            </a:fld>
            <a:endParaRPr lang="en-US"/>
          </a:p>
        </p:txBody>
      </p:sp>
    </p:spTree>
    <p:extLst>
      <p:ext uri="{BB962C8B-B14F-4D97-AF65-F5344CB8AC3E}">
        <p14:creationId xmlns:p14="http://schemas.microsoft.com/office/powerpoint/2010/main" val="935072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8</a:t>
            </a:fld>
            <a:endParaRPr lang="en-US"/>
          </a:p>
        </p:txBody>
      </p:sp>
    </p:spTree>
    <p:extLst>
      <p:ext uri="{BB962C8B-B14F-4D97-AF65-F5344CB8AC3E}">
        <p14:creationId xmlns:p14="http://schemas.microsoft.com/office/powerpoint/2010/main" val="2493029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9</a:t>
            </a:fld>
            <a:endParaRPr lang="en-US"/>
          </a:p>
        </p:txBody>
      </p:sp>
    </p:spTree>
    <p:extLst>
      <p:ext uri="{BB962C8B-B14F-4D97-AF65-F5344CB8AC3E}">
        <p14:creationId xmlns:p14="http://schemas.microsoft.com/office/powerpoint/2010/main" val="712487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10</a:t>
            </a:fld>
            <a:endParaRPr lang="en-US"/>
          </a:p>
        </p:txBody>
      </p:sp>
    </p:spTree>
    <p:extLst>
      <p:ext uri="{BB962C8B-B14F-4D97-AF65-F5344CB8AC3E}">
        <p14:creationId xmlns:p14="http://schemas.microsoft.com/office/powerpoint/2010/main" val="839213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F75CB5-5666-5049-9AE0-38EFD385C21E}" type="slidenum">
              <a:rPr lang="en-US" smtClean="0"/>
              <a:t>11</a:t>
            </a:fld>
            <a:endParaRPr lang="en-US"/>
          </a:p>
        </p:txBody>
      </p:sp>
    </p:spTree>
    <p:extLst>
      <p:ext uri="{BB962C8B-B14F-4D97-AF65-F5344CB8AC3E}">
        <p14:creationId xmlns:p14="http://schemas.microsoft.com/office/powerpoint/2010/main" val="4167890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a:t>Click to add content</a:t>
            </a:r>
          </a:p>
          <a:p>
            <a:pPr lvl="1"/>
            <a:r>
              <a:rPr lang="en-US"/>
              <a:t>Second level</a:t>
            </a:r>
          </a:p>
          <a:p>
            <a:pPr lvl="2"/>
            <a:r>
              <a:rPr lang="en-US"/>
              <a:t>Third level</a:t>
            </a:r>
          </a:p>
          <a:p>
            <a:pPr lvl="3"/>
            <a:r>
              <a:rPr lang="en-US"/>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a:t>Click to add content</a:t>
            </a:r>
          </a:p>
          <a:p>
            <a:pPr lvl="1"/>
            <a:r>
              <a:rPr lang="en-US"/>
              <a:t>Second level</a:t>
            </a:r>
          </a:p>
          <a:p>
            <a:pPr lvl="2"/>
            <a:r>
              <a:rPr lang="en-US"/>
              <a:t>Third level</a:t>
            </a:r>
          </a:p>
          <a:p>
            <a:pPr lvl="3"/>
            <a:r>
              <a:rPr lang="en-US"/>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a:t>Click to add content</a:t>
            </a:r>
          </a:p>
          <a:p>
            <a:pPr lvl="1"/>
            <a:r>
              <a:rPr lang="en-US"/>
              <a:t>Second level</a:t>
            </a:r>
          </a:p>
          <a:p>
            <a:pPr lvl="2"/>
            <a:r>
              <a:rPr lang="en-US"/>
              <a:t>Third level</a:t>
            </a:r>
          </a:p>
          <a:p>
            <a:pPr lvl="3"/>
            <a:r>
              <a:rPr lang="en-US"/>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a:t>Click to add content</a:t>
            </a:r>
          </a:p>
          <a:p>
            <a:pPr lvl="1"/>
            <a:r>
              <a:rPr lang="en-US"/>
              <a:t>Second level</a:t>
            </a:r>
          </a:p>
          <a:p>
            <a:pPr lvl="2"/>
            <a:r>
              <a:rPr lang="en-US"/>
              <a:t>Third level</a:t>
            </a:r>
          </a:p>
          <a:p>
            <a:pPr lvl="3"/>
            <a:r>
              <a:rPr lang="en-US"/>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a:t>Click to add content</a:t>
            </a:r>
          </a:p>
          <a:p>
            <a:pPr lvl="1"/>
            <a:r>
              <a:rPr lang="en-US"/>
              <a:t>Second level</a:t>
            </a:r>
          </a:p>
          <a:p>
            <a:pPr lvl="2"/>
            <a:r>
              <a:rPr lang="en-US"/>
              <a:t>Third level</a:t>
            </a:r>
          </a:p>
          <a:p>
            <a:pPr lvl="3"/>
            <a:r>
              <a:rPr lang="en-US"/>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a:t>Click to add content</a:t>
            </a:r>
          </a:p>
          <a:p>
            <a:pPr lvl="1"/>
            <a:r>
              <a:rPr lang="en-US"/>
              <a:t>Second level</a:t>
            </a:r>
          </a:p>
          <a:p>
            <a:pPr lvl="2"/>
            <a:r>
              <a:rPr lang="en-US"/>
              <a:t>Third level</a:t>
            </a:r>
          </a:p>
          <a:p>
            <a:pPr lvl="3"/>
            <a:r>
              <a:rPr lang="en-US"/>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a:t>Click to add content</a:t>
            </a:r>
          </a:p>
          <a:p>
            <a:pPr lvl="1"/>
            <a:r>
              <a:rPr lang="en-US"/>
              <a:t>Second level</a:t>
            </a:r>
          </a:p>
          <a:p>
            <a:pPr lvl="2"/>
            <a:r>
              <a:rPr lang="en-US"/>
              <a:t>Third level</a:t>
            </a:r>
          </a:p>
          <a:p>
            <a:pPr lvl="3"/>
            <a:r>
              <a:rPr lang="en-US"/>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theme" Target="../theme/theme1.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6.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notesSlide" Target="../notesSlides/notesSlide4.xml" /><Relationship Id="rId1" Type="http://schemas.openxmlformats.org/officeDocument/2006/relationships/slideLayout" Target="../slideLayouts/slideLayout5.xml" /></Relationships>
</file>

<file path=ppt/slides/_rels/slide6.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5.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8.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9.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68ED5F-4214-A122-6DEC-A81E6719C062}"/>
              </a:ext>
            </a:extLst>
          </p:cNvPr>
          <p:cNvSpPr txBox="1"/>
          <p:nvPr/>
        </p:nvSpPr>
        <p:spPr>
          <a:xfrm>
            <a:off x="236472" y="2449581"/>
            <a:ext cx="11183815" cy="3139321"/>
          </a:xfrm>
          <a:prstGeom prst="rect">
            <a:avLst/>
          </a:prstGeom>
          <a:noFill/>
        </p:spPr>
        <p:txBody>
          <a:bodyPr wrap="square" rtlCol="0">
            <a:spAutoFit/>
          </a:bodyPr>
          <a:lstStyle/>
          <a:p>
            <a:pPr algn="ctr"/>
            <a:r>
              <a:rPr lang="en-US" sz="6600" b="1">
                <a:solidFill>
                  <a:schemeClr val="accent2"/>
                </a:solidFill>
              </a:rPr>
              <a:t>LOAD FLOW ANALYSIS AND FAULT ANALYSIS IN POWER SYSYTEM</a:t>
            </a:r>
          </a:p>
        </p:txBody>
      </p:sp>
      <p:pic>
        <p:nvPicPr>
          <p:cNvPr id="6" name="Picture 5">
            <a:extLst>
              <a:ext uri="{FF2B5EF4-FFF2-40B4-BE49-F238E27FC236}">
                <a16:creationId xmlns:a16="http://schemas.microsoft.com/office/drawing/2014/main" id="{6A4C43AD-DB7B-77FA-E589-019658AACB38}"/>
              </a:ext>
            </a:extLst>
          </p:cNvPr>
          <p:cNvPicPr>
            <a:picLocks noChangeAspect="1"/>
          </p:cNvPicPr>
          <p:nvPr/>
        </p:nvPicPr>
        <p:blipFill>
          <a:blip r:embed="rId3"/>
          <a:stretch>
            <a:fillRect/>
          </a:stretch>
        </p:blipFill>
        <p:spPr>
          <a:xfrm>
            <a:off x="-2" y="-1"/>
            <a:ext cx="12192000" cy="1933741"/>
          </a:xfrm>
          <a:prstGeom prst="rect">
            <a:avLst/>
          </a:prstGeom>
        </p:spPr>
      </p:pic>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347AE7-D6A2-42FB-3D58-6297742FC352}"/>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2</a:t>
            </a:fld>
            <a:endParaRPr lang="en-US"/>
          </a:p>
        </p:txBody>
      </p:sp>
      <p:sp>
        <p:nvSpPr>
          <p:cNvPr id="12" name="Title 6">
            <a:extLst>
              <a:ext uri="{FF2B5EF4-FFF2-40B4-BE49-F238E27FC236}">
                <a16:creationId xmlns:a16="http://schemas.microsoft.com/office/drawing/2014/main" id="{DF297498-9671-FCD6-A03A-C87E79373191}"/>
              </a:ext>
            </a:extLst>
          </p:cNvPr>
          <p:cNvSpPr>
            <a:spLocks noGrp="1"/>
          </p:cNvSpPr>
          <p:nvPr>
            <p:ph type="title"/>
          </p:nvPr>
        </p:nvSpPr>
        <p:spPr>
          <a:xfrm>
            <a:off x="3305175" y="112713"/>
            <a:ext cx="7421563" cy="1657350"/>
          </a:xfrm>
        </p:spPr>
        <p:txBody>
          <a:bodyPr/>
          <a:lstStyle/>
          <a:p>
            <a:r>
              <a:rPr lang="en-US"/>
              <a:t>CONTENET:</a:t>
            </a:r>
          </a:p>
        </p:txBody>
      </p:sp>
      <p:sp>
        <p:nvSpPr>
          <p:cNvPr id="13" name="Text Placeholder 3">
            <a:extLst>
              <a:ext uri="{FF2B5EF4-FFF2-40B4-BE49-F238E27FC236}">
                <a16:creationId xmlns:a16="http://schemas.microsoft.com/office/drawing/2014/main" id="{EA283D20-290A-05BC-2525-D62C2702957D}"/>
              </a:ext>
            </a:extLst>
          </p:cNvPr>
          <p:cNvSpPr>
            <a:spLocks noGrp="1"/>
          </p:cNvSpPr>
          <p:nvPr>
            <p:ph sz="quarter" idx="31"/>
          </p:nvPr>
        </p:nvSpPr>
        <p:spPr>
          <a:xfrm>
            <a:off x="3305174" y="2310421"/>
            <a:ext cx="7421563" cy="4275137"/>
          </a:xfrm>
        </p:spPr>
        <p:txBody>
          <a:bodyPr anchor="t"/>
          <a:lstStyle/>
          <a:p>
            <a:pPr marL="285750" indent="-285750" algn="just">
              <a:buFont typeface="Arial" panose="020B0604020202020204" pitchFamily="34" charset="0"/>
              <a:buChar char="•"/>
            </a:pPr>
            <a:r>
              <a:rPr lang="en-US" sz="2400">
                <a:solidFill>
                  <a:srgbClr val="FFFF00"/>
                </a:solidFill>
                <a:latin typeface="Bahnschrift SemiLight Condensed" panose="020B0502040204020203" pitchFamily="34" charset="0"/>
              </a:rPr>
              <a:t>Introduction</a:t>
            </a:r>
          </a:p>
          <a:p>
            <a:pPr marL="285750" indent="-285750" algn="just">
              <a:buFont typeface="Arial" panose="020B0604020202020204" pitchFamily="34" charset="0"/>
              <a:buChar char="•"/>
            </a:pPr>
            <a:r>
              <a:rPr lang="en-US" sz="2400">
                <a:solidFill>
                  <a:srgbClr val="FFFF00"/>
                </a:solidFill>
                <a:latin typeface="Bahnschrift SemiLight Condensed" panose="020B0502040204020203" pitchFamily="34" charset="0"/>
              </a:rPr>
              <a:t>Tools used</a:t>
            </a:r>
          </a:p>
          <a:p>
            <a:pPr marL="285750" indent="-285750" algn="just">
              <a:buFont typeface="Arial" panose="020B0604020202020204" pitchFamily="34" charset="0"/>
              <a:buChar char="•"/>
            </a:pPr>
            <a:r>
              <a:rPr lang="en-US" sz="2400">
                <a:solidFill>
                  <a:srgbClr val="FFFF00"/>
                </a:solidFill>
                <a:latin typeface="Bahnschrift SemiLight Condensed" panose="020B0502040204020203" pitchFamily="34" charset="0"/>
              </a:rPr>
              <a:t>Circuit diagram</a:t>
            </a:r>
          </a:p>
          <a:p>
            <a:pPr marL="285750" indent="-285750" algn="just">
              <a:buFont typeface="Arial" panose="020B0604020202020204" pitchFamily="34" charset="0"/>
              <a:buChar char="•"/>
            </a:pPr>
            <a:r>
              <a:rPr lang="en-US" sz="2400">
                <a:solidFill>
                  <a:srgbClr val="FFFF00"/>
                </a:solidFill>
                <a:latin typeface="Bahnschrift SemiLight Condensed" panose="020B0502040204020203" pitchFamily="34" charset="0"/>
              </a:rPr>
              <a:t>Working principle </a:t>
            </a:r>
          </a:p>
          <a:p>
            <a:pPr marL="285750" indent="-285750" algn="just">
              <a:buFont typeface="Arial" panose="020B0604020202020204" pitchFamily="34" charset="0"/>
              <a:buChar char="•"/>
            </a:pPr>
            <a:r>
              <a:rPr lang="en-US" sz="2400">
                <a:solidFill>
                  <a:srgbClr val="FFFF00"/>
                </a:solidFill>
                <a:latin typeface="Bahnschrift SemiLight Condensed" panose="020B0502040204020203" pitchFamily="34" charset="0"/>
              </a:rPr>
              <a:t>Advantages and applications </a:t>
            </a:r>
          </a:p>
          <a:p>
            <a:pPr marL="285750" indent="-285750" algn="just">
              <a:buFont typeface="Arial" panose="020B0604020202020204" pitchFamily="34" charset="0"/>
              <a:buChar char="•"/>
            </a:pPr>
            <a:r>
              <a:rPr lang="en-US" sz="2400" err="1">
                <a:solidFill>
                  <a:srgbClr val="FFFF00"/>
                </a:solidFill>
                <a:latin typeface="Bahnschrift SemiLight Condensed" panose="020B0502040204020203" pitchFamily="34" charset="0"/>
              </a:rPr>
              <a:t>Conclussion</a:t>
            </a:r>
            <a:endParaRPr lang="en-US" sz="2400">
              <a:solidFill>
                <a:srgbClr val="FFFF00"/>
              </a:solidFill>
              <a:latin typeface="Bahnschrift SemiLight Condensed" panose="020B0502040204020203" pitchFamily="34" charset="0"/>
            </a:endParaRPr>
          </a:p>
          <a:p>
            <a:pPr marL="285750" indent="-285750" algn="just">
              <a:buFont typeface="Arial" panose="020B0604020202020204" pitchFamily="34" charset="0"/>
              <a:buChar char="•"/>
            </a:pPr>
            <a:endParaRPr lang="en-US" sz="2400">
              <a:solidFill>
                <a:srgbClr val="FFFF00"/>
              </a:solidFill>
              <a:latin typeface="Bahnschrift SemiLight Condensed" panose="020B0502040204020203" pitchFamily="34" charset="0"/>
            </a:endParaRPr>
          </a:p>
        </p:txBody>
      </p:sp>
    </p:spTree>
    <p:extLst>
      <p:ext uri="{BB962C8B-B14F-4D97-AF65-F5344CB8AC3E}">
        <p14:creationId xmlns:p14="http://schemas.microsoft.com/office/powerpoint/2010/main" val="1962637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260D053B-A40A-3228-B6D5-3371B9EE2E56}"/>
              </a:ext>
            </a:extLst>
          </p:cNvPr>
          <p:cNvSpPr>
            <a:spLocks noGrp="1"/>
          </p:cNvSpPr>
          <p:nvPr>
            <p:ph type="subTitle" idx="1"/>
          </p:nvPr>
        </p:nvSpPr>
        <p:spPr>
          <a:xfrm>
            <a:off x="307827" y="605958"/>
            <a:ext cx="10932259" cy="1349452"/>
          </a:xfrm>
        </p:spPr>
        <p:txBody>
          <a:bodyPr/>
          <a:lstStyle/>
          <a:p>
            <a:r>
              <a:rPr lang="en-US"/>
              <a:t>INTROUDUCTION</a:t>
            </a:r>
          </a:p>
        </p:txBody>
      </p:sp>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3</a:t>
            </a:fld>
            <a:endParaRPr lang="en-US"/>
          </a:p>
        </p:txBody>
      </p:sp>
      <p:sp>
        <p:nvSpPr>
          <p:cNvPr id="8" name="TextBox 7">
            <a:extLst>
              <a:ext uri="{FF2B5EF4-FFF2-40B4-BE49-F238E27FC236}">
                <a16:creationId xmlns:a16="http://schemas.microsoft.com/office/drawing/2014/main" id="{D944C1E8-0888-B5BD-56CF-38024B267E0C}"/>
              </a:ext>
            </a:extLst>
          </p:cNvPr>
          <p:cNvSpPr txBox="1"/>
          <p:nvPr/>
        </p:nvSpPr>
        <p:spPr>
          <a:xfrm>
            <a:off x="534099" y="1421730"/>
            <a:ext cx="11006356" cy="5262979"/>
          </a:xfrm>
          <a:prstGeom prst="rect">
            <a:avLst/>
          </a:prstGeom>
          <a:noFill/>
        </p:spPr>
        <p:txBody>
          <a:bodyPr wrap="square">
            <a:spAutoFit/>
          </a:bodyPr>
          <a:lstStyle/>
          <a:p>
            <a:pPr marL="285750" indent="-285750" algn="just">
              <a:buFont typeface="Wingdings" panose="05000000000000000000" pitchFamily="2" charset="2"/>
              <a:buChar char="v"/>
            </a:pPr>
            <a:r>
              <a:rPr lang="en-IN" sz="2400" dirty="0">
                <a:solidFill>
                  <a:schemeClr val="bg1"/>
                </a:solidFill>
              </a:rPr>
              <a:t>The steady state operating conditions of a power system is balanced three phase ac  But, due to sudden internal or external changes in the system, this condition is disrupted. </a:t>
            </a:r>
          </a:p>
          <a:p>
            <a:pPr marL="285750" indent="-285750" algn="just">
              <a:buFont typeface="Wingdings" panose="05000000000000000000" pitchFamily="2" charset="2"/>
              <a:buChar char="v"/>
            </a:pPr>
            <a:r>
              <a:rPr lang="en-IN" sz="2400" dirty="0">
                <a:solidFill>
                  <a:schemeClr val="bg1"/>
                </a:solidFill>
              </a:rPr>
              <a:t>When the insulation the system fails at one or more points or a conducting object comes into contact with a live point, a short circuit or a fault occurs. </a:t>
            </a:r>
          </a:p>
          <a:p>
            <a:pPr marL="285750" indent="-285750" algn="just">
              <a:buFont typeface="Wingdings" panose="05000000000000000000" pitchFamily="2" charset="2"/>
              <a:buChar char="v"/>
            </a:pPr>
            <a:r>
              <a:rPr lang="en-IN" sz="2400" dirty="0">
                <a:solidFill>
                  <a:schemeClr val="bg1"/>
                </a:solidFill>
              </a:rPr>
              <a:t>Faults may lead to fire breakout that consequently results into loss of life, loss of property, cut of supply in areas beyond the fault point in a transmission and distribution network leading to power blackouts and destruction of a system network. </a:t>
            </a:r>
          </a:p>
          <a:p>
            <a:pPr marL="285750" indent="-285750" algn="just">
              <a:buFont typeface="Wingdings" panose="05000000000000000000" pitchFamily="2" charset="2"/>
              <a:buChar char="v"/>
            </a:pPr>
            <a:r>
              <a:rPr lang="en-IN" sz="2400" dirty="0">
                <a:solidFill>
                  <a:schemeClr val="bg1"/>
                </a:solidFill>
              </a:rPr>
              <a:t>All the above results into delayed development due to low gross product realised. Therefore, it is necessary to determine the values of system voltages and currents during three phase balanced fault conditions, so that protective devices may be located to detect and minimize the harmful effects.</a:t>
            </a:r>
          </a:p>
          <a:p>
            <a:pPr algn="just"/>
            <a:endParaRPr lang="en-IN" sz="2400" dirty="0">
              <a:solidFill>
                <a:schemeClr val="bg1"/>
              </a:solidFill>
            </a:endParaRPr>
          </a:p>
        </p:txBody>
      </p:sp>
    </p:spTree>
    <p:extLst>
      <p:ext uri="{BB962C8B-B14F-4D97-AF65-F5344CB8AC3E}">
        <p14:creationId xmlns:p14="http://schemas.microsoft.com/office/powerpoint/2010/main" val="1397193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79D8F0-9635-F488-46AB-551EF54235EC}"/>
              </a:ext>
            </a:extLst>
          </p:cNvPr>
          <p:cNvSpPr>
            <a:spLocks noGrp="1"/>
          </p:cNvSpPr>
          <p:nvPr>
            <p:ph type="sldNum" sz="quarter" idx="4294967295"/>
          </p:nvPr>
        </p:nvSpPr>
        <p:spPr>
          <a:xfrm>
            <a:off x="9448800" y="6226175"/>
            <a:ext cx="2743200" cy="365125"/>
          </a:xfrm>
        </p:spPr>
        <p:txBody>
          <a:bodyPr/>
          <a:lstStyle/>
          <a:p>
            <a:fld id="{FE024F78-56A6-7740-B68D-8D4D026EDF3F}" type="slidenum">
              <a:rPr lang="en-US" smtClean="0"/>
              <a:pPr/>
              <a:t>4</a:t>
            </a:fld>
            <a:endParaRPr lang="en-US"/>
          </a:p>
        </p:txBody>
      </p:sp>
      <p:sp>
        <p:nvSpPr>
          <p:cNvPr id="30" name="TextBox 29">
            <a:extLst>
              <a:ext uri="{FF2B5EF4-FFF2-40B4-BE49-F238E27FC236}">
                <a16:creationId xmlns:a16="http://schemas.microsoft.com/office/drawing/2014/main" id="{34332145-8322-799F-CAEE-F69A55AD8D76}"/>
              </a:ext>
            </a:extLst>
          </p:cNvPr>
          <p:cNvSpPr txBox="1"/>
          <p:nvPr/>
        </p:nvSpPr>
        <p:spPr>
          <a:xfrm>
            <a:off x="1182848" y="830510"/>
            <a:ext cx="184731" cy="369332"/>
          </a:xfrm>
          <a:prstGeom prst="rect">
            <a:avLst/>
          </a:prstGeom>
          <a:noFill/>
        </p:spPr>
        <p:txBody>
          <a:bodyPr wrap="none" rtlCol="0">
            <a:spAutoFit/>
          </a:bodyPr>
          <a:lstStyle/>
          <a:p>
            <a:endParaRPr lang="en-IN"/>
          </a:p>
        </p:txBody>
      </p:sp>
      <p:sp>
        <p:nvSpPr>
          <p:cNvPr id="36" name="TextBox 35">
            <a:extLst>
              <a:ext uri="{FF2B5EF4-FFF2-40B4-BE49-F238E27FC236}">
                <a16:creationId xmlns:a16="http://schemas.microsoft.com/office/drawing/2014/main" id="{394DB60E-2768-D9DF-845E-FC76EAD19212}"/>
              </a:ext>
            </a:extLst>
          </p:cNvPr>
          <p:cNvSpPr txBox="1"/>
          <p:nvPr/>
        </p:nvSpPr>
        <p:spPr>
          <a:xfrm>
            <a:off x="265652" y="3319589"/>
            <a:ext cx="11450972" cy="1938992"/>
          </a:xfrm>
          <a:prstGeom prst="rect">
            <a:avLst/>
          </a:prstGeom>
          <a:noFill/>
        </p:spPr>
        <p:txBody>
          <a:bodyPr wrap="square" rtlCol="0">
            <a:spAutoFit/>
          </a:bodyPr>
          <a:lstStyle/>
          <a:p>
            <a:pPr marL="342900" indent="-342900" algn="just">
              <a:buFont typeface="Wingdings" panose="05000000000000000000" pitchFamily="2" charset="2"/>
              <a:buChar char="v"/>
            </a:pPr>
            <a:r>
              <a:rPr lang="en-IN" sz="2400">
                <a:solidFill>
                  <a:schemeClr val="bg1"/>
                </a:solidFill>
              </a:rPr>
              <a:t> Although this system model is a relatively small and simple power system, this system works will assist students in understanding fault analysis.</a:t>
            </a:r>
          </a:p>
          <a:p>
            <a:pPr marL="342900" indent="-342900" algn="just">
              <a:buFont typeface="Wingdings" panose="05000000000000000000" pitchFamily="2" charset="2"/>
              <a:buChar char="v"/>
            </a:pPr>
            <a:r>
              <a:rPr lang="en-IN" sz="2400">
                <a:solidFill>
                  <a:schemeClr val="bg1"/>
                </a:solidFill>
              </a:rPr>
              <a:t>The results of changes to the system can be seen quickly in power world, further</a:t>
            </a:r>
          </a:p>
          <a:p>
            <a:pPr algn="just"/>
            <a:r>
              <a:rPr lang="en-IN" sz="2400">
                <a:solidFill>
                  <a:schemeClr val="bg1"/>
                </a:solidFill>
              </a:rPr>
              <a:t>    aiding students learning process and utility engineers.</a:t>
            </a:r>
          </a:p>
          <a:p>
            <a:pPr algn="just"/>
            <a:r>
              <a:rPr lang="en-IN" sz="2400">
                <a:solidFill>
                  <a:schemeClr val="bg1"/>
                </a:solidFill>
              </a:rPr>
              <a:t> </a:t>
            </a:r>
          </a:p>
        </p:txBody>
      </p:sp>
      <p:sp>
        <p:nvSpPr>
          <p:cNvPr id="38" name="TextBox 37">
            <a:extLst>
              <a:ext uri="{FF2B5EF4-FFF2-40B4-BE49-F238E27FC236}">
                <a16:creationId xmlns:a16="http://schemas.microsoft.com/office/drawing/2014/main" id="{F73FF58A-368D-5875-4CA7-860A371D388C}"/>
              </a:ext>
            </a:extLst>
          </p:cNvPr>
          <p:cNvSpPr txBox="1"/>
          <p:nvPr/>
        </p:nvSpPr>
        <p:spPr>
          <a:xfrm>
            <a:off x="265652" y="-4398"/>
            <a:ext cx="11006356" cy="3323987"/>
          </a:xfrm>
          <a:prstGeom prst="rect">
            <a:avLst/>
          </a:prstGeom>
          <a:noFill/>
        </p:spPr>
        <p:txBody>
          <a:bodyPr wrap="square">
            <a:spAutoFit/>
          </a:bodyPr>
          <a:lstStyle/>
          <a:p>
            <a:pPr algn="just"/>
            <a:endParaRPr lang="en-IN">
              <a:solidFill>
                <a:schemeClr val="bg1"/>
              </a:solidFill>
            </a:endParaRPr>
          </a:p>
          <a:p>
            <a:pPr marL="285750" indent="-285750" algn="just">
              <a:buFont typeface="Wingdings" panose="05000000000000000000" pitchFamily="2" charset="2"/>
              <a:buChar char="v"/>
            </a:pPr>
            <a:r>
              <a:rPr lang="en-IN" sz="2400">
                <a:solidFill>
                  <a:schemeClr val="bg1"/>
                </a:solidFill>
              </a:rPr>
              <a:t>Three phase balanced faults may be analysed using an equivalent single phase circuit. Normally, fault analysis is calculated in per-unit quantities as they provide solutions which are somewhat consistent over different voltage and power ratings, and operate on values of the order of unity. </a:t>
            </a:r>
          </a:p>
          <a:p>
            <a:pPr marL="285750" indent="-285750" algn="just">
              <a:buFont typeface="Wingdings" panose="05000000000000000000" pitchFamily="2" charset="2"/>
              <a:buChar char="v"/>
            </a:pPr>
            <a:r>
              <a:rPr lang="en-IN" sz="2400">
                <a:solidFill>
                  <a:schemeClr val="bg1"/>
                </a:solidFill>
              </a:rPr>
              <a:t>The power world simulator tool can be employed to analyse the fault current distribution and bus voltages levels during unsymmetrical fault condition </a:t>
            </a:r>
          </a:p>
          <a:p>
            <a:pPr marL="285750" indent="-285750" algn="just">
              <a:buFont typeface="Wingdings" panose="05000000000000000000" pitchFamily="2" charset="2"/>
              <a:buChar char="v"/>
            </a:pPr>
            <a:r>
              <a:rPr lang="en-IN" sz="2400">
                <a:solidFill>
                  <a:schemeClr val="bg1"/>
                </a:solidFill>
              </a:rPr>
              <a:t>The power world simulator tool is employed to analysis the three phase balanced fault of 6-bus power system model.</a:t>
            </a:r>
          </a:p>
        </p:txBody>
      </p:sp>
    </p:spTree>
    <p:extLst>
      <p:ext uri="{BB962C8B-B14F-4D97-AF65-F5344CB8AC3E}">
        <p14:creationId xmlns:p14="http://schemas.microsoft.com/office/powerpoint/2010/main" val="428649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EFE388-CD0B-9671-4D4E-D6D8004C8851}"/>
              </a:ext>
            </a:extLst>
          </p:cNvPr>
          <p:cNvSpPr>
            <a:spLocks noGrp="1"/>
          </p:cNvSpPr>
          <p:nvPr>
            <p:ph type="title"/>
          </p:nvPr>
        </p:nvSpPr>
        <p:spPr>
          <a:xfrm>
            <a:off x="799891" y="511762"/>
            <a:ext cx="4960830" cy="2785158"/>
          </a:xfrm>
        </p:spPr>
        <p:txBody>
          <a:bodyPr/>
          <a:lstStyle/>
          <a:p>
            <a:r>
              <a:rPr lang="en-US"/>
              <a:t> </a:t>
            </a:r>
          </a:p>
        </p:txBody>
      </p:sp>
      <p:sp>
        <p:nvSpPr>
          <p:cNvPr id="5" name="Subtitle 4">
            <a:extLst>
              <a:ext uri="{FF2B5EF4-FFF2-40B4-BE49-F238E27FC236}">
                <a16:creationId xmlns:a16="http://schemas.microsoft.com/office/drawing/2014/main" id="{BE4E0F37-0AD5-833C-CBE5-EAE02EC46069}"/>
              </a:ext>
            </a:extLst>
          </p:cNvPr>
          <p:cNvSpPr>
            <a:spLocks noGrp="1"/>
          </p:cNvSpPr>
          <p:nvPr>
            <p:ph type="subTitle" idx="1"/>
          </p:nvPr>
        </p:nvSpPr>
        <p:spPr>
          <a:xfrm>
            <a:off x="479083" y="535725"/>
            <a:ext cx="4958081" cy="2387865"/>
          </a:xfrm>
        </p:spPr>
        <p:txBody>
          <a:bodyPr/>
          <a:lstStyle/>
          <a:p>
            <a:r>
              <a:rPr lang="en-US"/>
              <a:t>TOOLS USED:</a:t>
            </a:r>
          </a:p>
          <a:p>
            <a:endParaRPr lang="en-US"/>
          </a:p>
        </p:txBody>
      </p:sp>
      <p:pic>
        <p:nvPicPr>
          <p:cNvPr id="8" name="Picture Placeholder 7" descr="A blue and purple spirals">
            <a:extLst>
              <a:ext uri="{FF2B5EF4-FFF2-40B4-BE49-F238E27FC236}">
                <a16:creationId xmlns:a16="http://schemas.microsoft.com/office/drawing/2014/main" id="{E1DBD4C7-D952-4426-40FD-8799F80F821F}"/>
              </a:ext>
            </a:extLst>
          </p:cNvPr>
          <p:cNvPicPr>
            <a:picLocks noGrp="1" noChangeAspect="1"/>
          </p:cNvPicPr>
          <p:nvPr>
            <p:ph type="pic" sz="quarter" idx="13"/>
          </p:nvPr>
        </p:nvPicPr>
        <p:blipFill>
          <a:blip r:embed="rId3"/>
          <a:srcRect t="31" b="31"/>
          <a:stretch/>
        </p:blipFill>
        <p:spPr>
          <a:xfrm>
            <a:off x="6497638" y="336550"/>
            <a:ext cx="5322887" cy="6184900"/>
          </a:xfrm>
        </p:spPr>
      </p:pic>
      <p:sp>
        <p:nvSpPr>
          <p:cNvPr id="4" name="Slide Number Placeholder 3">
            <a:extLst>
              <a:ext uri="{FF2B5EF4-FFF2-40B4-BE49-F238E27FC236}">
                <a16:creationId xmlns:a16="http://schemas.microsoft.com/office/drawing/2014/main" id="{67D6EA54-3083-FB0D-9011-2353791B0495}"/>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5</a:t>
            </a:fld>
            <a:endParaRPr lang="en-US"/>
          </a:p>
        </p:txBody>
      </p:sp>
      <p:sp>
        <p:nvSpPr>
          <p:cNvPr id="2" name="TextBox 1">
            <a:extLst>
              <a:ext uri="{FF2B5EF4-FFF2-40B4-BE49-F238E27FC236}">
                <a16:creationId xmlns:a16="http://schemas.microsoft.com/office/drawing/2014/main" id="{9B956D85-F5DE-1419-DA84-20ECA663B6A8}"/>
              </a:ext>
            </a:extLst>
          </p:cNvPr>
          <p:cNvSpPr txBox="1"/>
          <p:nvPr/>
        </p:nvSpPr>
        <p:spPr>
          <a:xfrm>
            <a:off x="617011" y="1566557"/>
            <a:ext cx="5519781" cy="3416320"/>
          </a:xfrm>
          <a:prstGeom prst="rect">
            <a:avLst/>
          </a:prstGeom>
          <a:noFill/>
        </p:spPr>
        <p:txBody>
          <a:bodyPr wrap="none" rtlCol="0">
            <a:spAutoFit/>
          </a:bodyPr>
          <a:lstStyle/>
          <a:p>
            <a:pPr marL="285750" indent="-285750">
              <a:buFont typeface="Courier New" panose="02070309020205020404" pitchFamily="49" charset="0"/>
              <a:buChar char="o"/>
            </a:pPr>
            <a:endParaRPr lang="en-US" b="1" dirty="0">
              <a:solidFill>
                <a:schemeClr val="bg1"/>
              </a:solidFill>
              <a:latin typeface="Arial Black" panose="020B0A04020102020204" pitchFamily="34" charset="0"/>
            </a:endParaRPr>
          </a:p>
          <a:p>
            <a:pPr marL="285750" indent="-285750" algn="just">
              <a:buFont typeface="Courier New" panose="02070309020205020404" pitchFamily="49" charset="0"/>
              <a:buChar char="o"/>
            </a:pPr>
            <a:r>
              <a:rPr lang="en-US" b="1" dirty="0">
                <a:solidFill>
                  <a:schemeClr val="bg1"/>
                </a:solidFill>
                <a:latin typeface="Arial Black" panose="020B0A04020102020204" pitchFamily="34" charset="0"/>
              </a:rPr>
              <a:t>COMPUTER OR LAPTOP</a:t>
            </a:r>
          </a:p>
          <a:p>
            <a:pPr marL="285750" indent="-285750" algn="just">
              <a:buFont typeface="Courier New" panose="02070309020205020404" pitchFamily="49" charset="0"/>
              <a:buChar char="o"/>
            </a:pPr>
            <a:endParaRPr lang="en-US" b="1" dirty="0">
              <a:solidFill>
                <a:schemeClr val="bg1"/>
              </a:solidFill>
              <a:latin typeface="Arial Black" panose="020B0A04020102020204" pitchFamily="34" charset="0"/>
            </a:endParaRPr>
          </a:p>
          <a:p>
            <a:pPr marL="285750" indent="-285750" algn="just">
              <a:buFont typeface="Courier New" panose="02070309020205020404" pitchFamily="49" charset="0"/>
              <a:buChar char="o"/>
            </a:pPr>
            <a:r>
              <a:rPr lang="en-US" b="1" dirty="0">
                <a:solidFill>
                  <a:schemeClr val="bg1"/>
                </a:solidFill>
                <a:latin typeface="Arial Black" panose="020B0A04020102020204" pitchFamily="34" charset="0"/>
              </a:rPr>
              <a:t>POWER WORLD SIMULATOR SOFTWARE</a:t>
            </a:r>
          </a:p>
          <a:p>
            <a:pPr marL="285750" indent="-285750" algn="just">
              <a:buFont typeface="Courier New" panose="02070309020205020404" pitchFamily="49" charset="0"/>
              <a:buChar char="o"/>
            </a:pPr>
            <a:endParaRPr lang="en-US" b="1" dirty="0">
              <a:solidFill>
                <a:schemeClr val="bg1"/>
              </a:solidFill>
              <a:latin typeface="Arial Black" panose="020B0A04020102020204" pitchFamily="34" charset="0"/>
            </a:endParaRPr>
          </a:p>
          <a:p>
            <a:pPr marL="285750" indent="-285750" algn="just">
              <a:buFont typeface="Courier New" panose="02070309020205020404" pitchFamily="49" charset="0"/>
              <a:buChar char="o"/>
            </a:pPr>
            <a:r>
              <a:rPr lang="en-US" b="1" dirty="0">
                <a:solidFill>
                  <a:schemeClr val="bg1"/>
                </a:solidFill>
                <a:latin typeface="Arial Black" panose="020B0A04020102020204" pitchFamily="34" charset="0"/>
              </a:rPr>
              <a:t>IEEE 6BUS SYSETEM</a:t>
            </a:r>
          </a:p>
          <a:p>
            <a:pPr marL="285750" indent="-285750" algn="just">
              <a:buFont typeface="Courier New" panose="02070309020205020404" pitchFamily="49" charset="0"/>
              <a:buChar char="o"/>
            </a:pPr>
            <a:endParaRPr lang="en-US" b="1" dirty="0">
              <a:solidFill>
                <a:schemeClr val="bg1"/>
              </a:solidFill>
              <a:latin typeface="Arial Black" panose="020B0A04020102020204" pitchFamily="34" charset="0"/>
            </a:endParaRPr>
          </a:p>
          <a:p>
            <a:pPr marL="285750" indent="-285750" algn="just">
              <a:buFont typeface="Courier New" panose="02070309020205020404" pitchFamily="49" charset="0"/>
              <a:buChar char="o"/>
            </a:pPr>
            <a:r>
              <a:rPr lang="en-US" b="1" dirty="0">
                <a:solidFill>
                  <a:schemeClr val="bg1"/>
                </a:solidFill>
                <a:latin typeface="Arial Black" panose="020B0A04020102020204" pitchFamily="34" charset="0"/>
              </a:rPr>
              <a:t>LOAD FLOW ANALYASIS MODEL</a:t>
            </a:r>
          </a:p>
          <a:p>
            <a:pPr marL="285750" indent="-285750" algn="just">
              <a:buFont typeface="Courier New" panose="02070309020205020404" pitchFamily="49" charset="0"/>
              <a:buChar char="o"/>
            </a:pPr>
            <a:endParaRPr lang="en-US" b="1" dirty="0">
              <a:solidFill>
                <a:schemeClr val="bg1"/>
              </a:solidFill>
              <a:latin typeface="Arial Black" panose="020B0A04020102020204" pitchFamily="34" charset="0"/>
            </a:endParaRPr>
          </a:p>
          <a:p>
            <a:pPr marL="285750" indent="-285750" algn="just">
              <a:buFont typeface="Courier New" panose="02070309020205020404" pitchFamily="49" charset="0"/>
              <a:buChar char="o"/>
            </a:pPr>
            <a:r>
              <a:rPr lang="en-US" b="1" dirty="0">
                <a:solidFill>
                  <a:schemeClr val="bg1"/>
                </a:solidFill>
                <a:latin typeface="Arial Black" panose="020B0A04020102020204" pitchFamily="34" charset="0"/>
              </a:rPr>
              <a:t>FAULT ANALYSIS MODEL</a:t>
            </a:r>
          </a:p>
          <a:p>
            <a:pPr marL="285750" indent="-285750" algn="just">
              <a:buFont typeface="Courier New" panose="02070309020205020404" pitchFamily="49" charset="0"/>
              <a:buChar char="o"/>
            </a:pPr>
            <a:endParaRPr lang="en-US" b="1" dirty="0">
              <a:solidFill>
                <a:schemeClr val="bg1"/>
              </a:solidFill>
              <a:latin typeface="Arial Black" panose="020B0A04020102020204" pitchFamily="34" charset="0"/>
            </a:endParaRPr>
          </a:p>
          <a:p>
            <a:pPr marL="285750" indent="-285750" algn="just">
              <a:buFont typeface="Courier New" panose="02070309020205020404" pitchFamily="49" charset="0"/>
              <a:buChar char="o"/>
            </a:pPr>
            <a:r>
              <a:rPr lang="en-US" b="1" dirty="0">
                <a:solidFill>
                  <a:schemeClr val="bg1"/>
                </a:solidFill>
                <a:latin typeface="Arial Black" panose="020B0A04020102020204" pitchFamily="34" charset="0"/>
              </a:rPr>
              <a:t>RESULT </a:t>
            </a:r>
            <a:r>
              <a:rPr lang="en-IN" b="1" dirty="0">
                <a:solidFill>
                  <a:schemeClr val="bg1"/>
                </a:solidFill>
                <a:latin typeface="Arial Black" panose="020B0A04020102020204" pitchFamily="34" charset="0"/>
              </a:rPr>
              <a:t>AND</a:t>
            </a:r>
            <a:r>
              <a:rPr lang="en-US" b="1" dirty="0">
                <a:solidFill>
                  <a:schemeClr val="bg1"/>
                </a:solidFill>
                <a:latin typeface="Arial Black" panose="020B0A04020102020204" pitchFamily="34" charset="0"/>
              </a:rPr>
              <a:t> REPORTING TOOLS</a:t>
            </a:r>
          </a:p>
        </p:txBody>
      </p:sp>
    </p:spTree>
    <p:extLst>
      <p:ext uri="{BB962C8B-B14F-4D97-AF65-F5344CB8AC3E}">
        <p14:creationId xmlns:p14="http://schemas.microsoft.com/office/powerpoint/2010/main" val="598144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47A89A-09F1-0EFE-8CCC-BEA3321B7D95}"/>
              </a:ext>
            </a:extLst>
          </p:cNvPr>
          <p:cNvSpPr>
            <a:spLocks noGrp="1"/>
          </p:cNvSpPr>
          <p:nvPr>
            <p:ph type="subTitle" idx="1"/>
          </p:nvPr>
        </p:nvSpPr>
        <p:spPr>
          <a:xfrm>
            <a:off x="173465" y="179353"/>
            <a:ext cx="5782718" cy="2387865"/>
          </a:xfrm>
        </p:spPr>
        <p:txBody>
          <a:bodyPr/>
          <a:lstStyle/>
          <a:p>
            <a:r>
              <a:rPr lang="en-IN"/>
              <a:t>Circuit diagram:</a:t>
            </a:r>
          </a:p>
        </p:txBody>
      </p:sp>
      <p:sp>
        <p:nvSpPr>
          <p:cNvPr id="5" name="Slide Number Placeholder 4">
            <a:extLst>
              <a:ext uri="{FF2B5EF4-FFF2-40B4-BE49-F238E27FC236}">
                <a16:creationId xmlns:a16="http://schemas.microsoft.com/office/drawing/2014/main" id="{1C61F70D-3A17-E111-8D90-2E4D9A94BD3F}"/>
              </a:ext>
            </a:extLst>
          </p:cNvPr>
          <p:cNvSpPr>
            <a:spLocks noGrp="1"/>
          </p:cNvSpPr>
          <p:nvPr>
            <p:ph type="sldNum" sz="quarter" idx="12"/>
          </p:nvPr>
        </p:nvSpPr>
        <p:spPr/>
        <p:txBody>
          <a:bodyPr/>
          <a:lstStyle/>
          <a:p>
            <a:fld id="{FE024F78-56A6-7740-B68D-8D4D026EDF3F}" type="slidenum">
              <a:rPr lang="en-US" smtClean="0"/>
              <a:pPr/>
              <a:t>6</a:t>
            </a:fld>
            <a:endParaRPr lang="en-US"/>
          </a:p>
        </p:txBody>
      </p:sp>
      <p:pic>
        <p:nvPicPr>
          <p:cNvPr id="2" name="Picture 1">
            <a:extLst>
              <a:ext uri="{FF2B5EF4-FFF2-40B4-BE49-F238E27FC236}">
                <a16:creationId xmlns:a16="http://schemas.microsoft.com/office/drawing/2014/main" id="{B96DC635-7F51-95B3-B0A8-52E35C3E7CF1}"/>
              </a:ext>
            </a:extLst>
          </p:cNvPr>
          <p:cNvPicPr>
            <a:picLocks noChangeAspect="1"/>
          </p:cNvPicPr>
          <p:nvPr/>
        </p:nvPicPr>
        <p:blipFill>
          <a:blip r:embed="rId2"/>
          <a:stretch>
            <a:fillRect/>
          </a:stretch>
        </p:blipFill>
        <p:spPr>
          <a:xfrm>
            <a:off x="0" y="1393484"/>
            <a:ext cx="12192000" cy="5464515"/>
          </a:xfrm>
          <a:prstGeom prst="rect">
            <a:avLst/>
          </a:prstGeom>
        </p:spPr>
      </p:pic>
    </p:spTree>
    <p:extLst>
      <p:ext uri="{BB962C8B-B14F-4D97-AF65-F5344CB8AC3E}">
        <p14:creationId xmlns:p14="http://schemas.microsoft.com/office/powerpoint/2010/main" val="526256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3EC0984-5E76-835B-16A1-89B356C51F63}"/>
              </a:ext>
            </a:extLst>
          </p:cNvPr>
          <p:cNvSpPr>
            <a:spLocks noGrp="1"/>
          </p:cNvSpPr>
          <p:nvPr>
            <p:ph type="title"/>
          </p:nvPr>
        </p:nvSpPr>
        <p:spPr>
          <a:xfrm>
            <a:off x="2721432" y="407963"/>
            <a:ext cx="6327105" cy="641714"/>
          </a:xfrm>
        </p:spPr>
        <p:txBody>
          <a:bodyPr anchor="b"/>
          <a:lstStyle/>
          <a:p>
            <a:r>
              <a:rPr lang="en-US"/>
              <a:t>WORKING PRINCIPLE</a:t>
            </a:r>
          </a:p>
        </p:txBody>
      </p:sp>
      <p:sp>
        <p:nvSpPr>
          <p:cNvPr id="7" name="TextBox 6">
            <a:extLst>
              <a:ext uri="{FF2B5EF4-FFF2-40B4-BE49-F238E27FC236}">
                <a16:creationId xmlns:a16="http://schemas.microsoft.com/office/drawing/2014/main" id="{7F2F4F96-7FD3-26C4-BB18-0C495560FB9F}"/>
              </a:ext>
            </a:extLst>
          </p:cNvPr>
          <p:cNvSpPr txBox="1"/>
          <p:nvPr/>
        </p:nvSpPr>
        <p:spPr>
          <a:xfrm>
            <a:off x="168812" y="1252026"/>
            <a:ext cx="11873133" cy="5198012"/>
          </a:xfrm>
          <a:prstGeom prst="rect">
            <a:avLst/>
          </a:prstGeom>
          <a:noFill/>
        </p:spPr>
        <p:txBody>
          <a:bodyPr wrap="square" rtlCol="0">
            <a:spAutoFit/>
          </a:bodyPr>
          <a:lstStyle/>
          <a:p>
            <a:endParaRPr lang="en-US"/>
          </a:p>
        </p:txBody>
      </p:sp>
      <p:sp>
        <p:nvSpPr>
          <p:cNvPr id="8" name="TextBox 7">
            <a:extLst>
              <a:ext uri="{FF2B5EF4-FFF2-40B4-BE49-F238E27FC236}">
                <a16:creationId xmlns:a16="http://schemas.microsoft.com/office/drawing/2014/main" id="{B316ED59-00D9-F3CA-2864-778753220066}"/>
              </a:ext>
            </a:extLst>
          </p:cNvPr>
          <p:cNvSpPr txBox="1"/>
          <p:nvPr/>
        </p:nvSpPr>
        <p:spPr>
          <a:xfrm>
            <a:off x="-13475" y="1125502"/>
            <a:ext cx="11796918"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2000">
                <a:solidFill>
                  <a:schemeClr val="bg1"/>
                </a:solidFill>
              </a:rPr>
              <a:t>The Load Flow Analysis and Fault analysis of a IEEE 6-BUS Power System in Power World Simulator is carried out by creating a network model consisting of buses, generators, transmission lines, and loads. System data such as voltage levels, power generation, load demand, and line parameters are entered into the simulator.</a:t>
            </a:r>
          </a:p>
          <a:p>
            <a:pPr marL="285750" indent="-285750" algn="just">
              <a:buFont typeface="Arial" panose="020B0604020202020204" pitchFamily="34" charset="0"/>
              <a:buChar char="•"/>
            </a:pPr>
            <a:r>
              <a:rPr lang="en-US" sz="2000">
                <a:solidFill>
                  <a:schemeClr val="bg1"/>
                </a:solidFill>
              </a:rPr>
              <a:t>First, Load Flow Analysis is performed under normal operating conditions. The simulator calculates bus voltages, voltage angles, active power flow, reactive power flow, and transmission losses throughout the network.</a:t>
            </a:r>
          </a:p>
          <a:p>
            <a:pPr marL="285750" indent="-285750" algn="just">
              <a:buFont typeface="Arial" panose="020B0604020202020204" pitchFamily="34" charset="0"/>
              <a:buChar char="•"/>
            </a:pPr>
            <a:r>
              <a:rPr lang="en-US" sz="2000">
                <a:solidFill>
                  <a:schemeClr val="bg1"/>
                </a:solidFill>
              </a:rPr>
              <a:t> This helps evaluate the steady-state performance and operating condition of the power system.</a:t>
            </a:r>
          </a:p>
          <a:p>
            <a:pPr marL="285750" indent="-285750" algn="just">
              <a:buFont typeface="Arial" panose="020B0604020202020204" pitchFamily="34" charset="0"/>
              <a:buChar char="•"/>
            </a:pPr>
            <a:r>
              <a:rPr lang="en-US" sz="2000">
                <a:solidFill>
                  <a:schemeClr val="bg1"/>
                </a:solidFill>
              </a:rPr>
              <a:t>Next, Fault Analysis is conducted by applying faults at selected buses or transmission lines. </a:t>
            </a:r>
          </a:p>
          <a:p>
            <a:pPr marL="285750" indent="-285750" algn="just">
              <a:buFont typeface="Arial" panose="020B0604020202020204" pitchFamily="34" charset="0"/>
              <a:buChar char="•"/>
            </a:pPr>
            <a:r>
              <a:rPr lang="en-US" sz="2000">
                <a:solidFill>
                  <a:schemeClr val="bg1"/>
                </a:solidFill>
              </a:rPr>
              <a:t>The simulator computes fault currents, bus voltages during the fault, and the impact on the system. Different fault types such as single line-to-ground (LG), line-to-line (LL), double line-to-ground (LLG), and three-phase (LLL) faults can be analyzed.</a:t>
            </a:r>
          </a:p>
          <a:p>
            <a:pPr marL="285750" indent="-285750" algn="just">
              <a:buFont typeface="Arial" panose="020B0604020202020204" pitchFamily="34" charset="0"/>
              <a:buChar char="•"/>
            </a:pPr>
            <a:r>
              <a:rPr lang="en-US" sz="2000">
                <a:solidFill>
                  <a:schemeClr val="bg1"/>
                </a:solidFill>
              </a:rPr>
              <a:t>The results obtained from both analyses are used to assess system stability, identify weak points in the network, and determine suitable protection schemes for reliable power system operation.</a:t>
            </a:r>
          </a:p>
        </p:txBody>
      </p:sp>
    </p:spTree>
    <p:extLst>
      <p:ext uri="{BB962C8B-B14F-4D97-AF65-F5344CB8AC3E}">
        <p14:creationId xmlns:p14="http://schemas.microsoft.com/office/powerpoint/2010/main" val="987470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A29A4-AAFD-04EE-0732-0671E83D5EF1}"/>
              </a:ext>
            </a:extLst>
          </p:cNvPr>
          <p:cNvSpPr>
            <a:spLocks noGrp="1"/>
          </p:cNvSpPr>
          <p:nvPr>
            <p:ph type="title"/>
          </p:nvPr>
        </p:nvSpPr>
        <p:spPr>
          <a:xfrm>
            <a:off x="2399620" y="162560"/>
            <a:ext cx="8843050" cy="1616904"/>
          </a:xfrm>
        </p:spPr>
        <p:txBody>
          <a:bodyPr/>
          <a:lstStyle/>
          <a:p>
            <a:r>
              <a:rPr lang="en-US"/>
              <a:t>ADVANTAGES</a:t>
            </a:r>
          </a:p>
        </p:txBody>
      </p:sp>
      <p:sp>
        <p:nvSpPr>
          <p:cNvPr id="5" name="Slide Number Placeholder 4">
            <a:extLst>
              <a:ext uri="{FF2B5EF4-FFF2-40B4-BE49-F238E27FC236}">
                <a16:creationId xmlns:a16="http://schemas.microsoft.com/office/drawing/2014/main" id="{23E23533-91C6-420C-B7D7-4977ACF73ACF}"/>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8</a:t>
            </a:fld>
            <a:endParaRPr lang="en-US"/>
          </a:p>
        </p:txBody>
      </p:sp>
      <p:sp>
        <p:nvSpPr>
          <p:cNvPr id="10" name="TextBox 9">
            <a:extLst>
              <a:ext uri="{FF2B5EF4-FFF2-40B4-BE49-F238E27FC236}">
                <a16:creationId xmlns:a16="http://schemas.microsoft.com/office/drawing/2014/main" id="{2F56875B-4E36-D0E1-E79C-EB081F83A9DB}"/>
              </a:ext>
            </a:extLst>
          </p:cNvPr>
          <p:cNvSpPr txBox="1"/>
          <p:nvPr/>
        </p:nvSpPr>
        <p:spPr>
          <a:xfrm>
            <a:off x="2399620" y="4310431"/>
            <a:ext cx="9160409" cy="2000548"/>
          </a:xfrm>
          <a:prstGeom prst="rect">
            <a:avLst/>
          </a:prstGeom>
          <a:noFill/>
        </p:spPr>
        <p:txBody>
          <a:bodyPr wrap="square" rtlCol="0">
            <a:spAutoFit/>
          </a:bodyPr>
          <a:lstStyle/>
          <a:p>
            <a:r>
              <a:rPr lang="en-US" sz="2400">
                <a:solidFill>
                  <a:schemeClr val="accent2">
                    <a:lumMod val="75000"/>
                  </a:schemeClr>
                </a:solidFill>
              </a:rPr>
              <a:t>Advantages of Fault Analysis</a:t>
            </a:r>
          </a:p>
          <a:p>
            <a:pPr marL="285750" indent="-285750">
              <a:buFont typeface="Arial" panose="020B0604020202020204" pitchFamily="34" charset="0"/>
              <a:buChar char="•"/>
            </a:pPr>
            <a:r>
              <a:rPr lang="en-US" sz="2000">
                <a:solidFill>
                  <a:schemeClr val="bg1"/>
                </a:solidFill>
              </a:rPr>
              <a:t>Calculates fault currents accurately.</a:t>
            </a:r>
          </a:p>
          <a:p>
            <a:pPr marL="285750" indent="-285750">
              <a:buFont typeface="Arial" panose="020B0604020202020204" pitchFamily="34" charset="0"/>
              <a:buChar char="•"/>
            </a:pPr>
            <a:r>
              <a:rPr lang="en-US" sz="2000">
                <a:solidFill>
                  <a:schemeClr val="bg1"/>
                </a:solidFill>
              </a:rPr>
              <a:t>Helps in selecting suitable circuit breakers and relays.</a:t>
            </a:r>
          </a:p>
          <a:p>
            <a:pPr marL="285750" indent="-285750">
              <a:buFont typeface="Arial" panose="020B0604020202020204" pitchFamily="34" charset="0"/>
              <a:buChar char="•"/>
            </a:pPr>
            <a:r>
              <a:rPr lang="en-US" sz="2000">
                <a:solidFill>
                  <a:schemeClr val="bg1"/>
                </a:solidFill>
              </a:rPr>
              <a:t>Improves power system protection and reliability.</a:t>
            </a:r>
          </a:p>
          <a:p>
            <a:pPr marL="285750" indent="-285750">
              <a:buFont typeface="Arial" panose="020B0604020202020204" pitchFamily="34" charset="0"/>
              <a:buChar char="•"/>
            </a:pPr>
            <a:r>
              <a:rPr lang="en-US" sz="2000">
                <a:solidFill>
                  <a:schemeClr val="bg1"/>
                </a:solidFill>
              </a:rPr>
              <a:t>Reduces equipment damage during faults.</a:t>
            </a:r>
          </a:p>
          <a:p>
            <a:pPr marL="285750" indent="-285750">
              <a:buFont typeface="Arial" panose="020B0604020202020204" pitchFamily="34" charset="0"/>
              <a:buChar char="•"/>
            </a:pPr>
            <a:r>
              <a:rPr lang="en-US" sz="2000">
                <a:solidFill>
                  <a:schemeClr val="bg1"/>
                </a:solidFill>
              </a:rPr>
              <a:t>Enhances the safety and security of the power network</a:t>
            </a:r>
            <a:r>
              <a:rPr lang="en-US">
                <a:solidFill>
                  <a:schemeClr val="bg1"/>
                </a:solidFill>
              </a:rPr>
              <a:t>.</a:t>
            </a:r>
            <a:endParaRPr lang="en-IN">
              <a:solidFill>
                <a:schemeClr val="bg1"/>
              </a:solidFill>
            </a:endParaRPr>
          </a:p>
        </p:txBody>
      </p:sp>
      <p:sp>
        <p:nvSpPr>
          <p:cNvPr id="3" name="TextBox 2">
            <a:extLst>
              <a:ext uri="{FF2B5EF4-FFF2-40B4-BE49-F238E27FC236}">
                <a16:creationId xmlns:a16="http://schemas.microsoft.com/office/drawing/2014/main" id="{3CF19B47-0E30-6192-6A4F-38D606871159}"/>
              </a:ext>
            </a:extLst>
          </p:cNvPr>
          <p:cNvSpPr txBox="1"/>
          <p:nvPr/>
        </p:nvSpPr>
        <p:spPr>
          <a:xfrm>
            <a:off x="2337964" y="2011072"/>
            <a:ext cx="8651613" cy="2000548"/>
          </a:xfrm>
          <a:prstGeom prst="rect">
            <a:avLst/>
          </a:prstGeom>
          <a:noFill/>
        </p:spPr>
        <p:txBody>
          <a:bodyPr wrap="square" rtlCol="0">
            <a:spAutoFit/>
          </a:bodyPr>
          <a:lstStyle/>
          <a:p>
            <a:pPr algn="just"/>
            <a:r>
              <a:rPr lang="en-US" sz="2400">
                <a:solidFill>
                  <a:schemeClr val="accent2">
                    <a:lumMod val="75000"/>
                  </a:schemeClr>
                </a:solidFill>
              </a:rPr>
              <a:t>Advantages of Load Flow Analysis</a:t>
            </a:r>
          </a:p>
          <a:p>
            <a:pPr marL="285750" indent="-285750" algn="just">
              <a:buFont typeface="Arial" panose="020B0604020202020204" pitchFamily="34" charset="0"/>
              <a:buChar char="•"/>
            </a:pPr>
            <a:r>
              <a:rPr lang="en-US" sz="2000">
                <a:solidFill>
                  <a:schemeClr val="bg1">
                    <a:lumMod val="95000"/>
                  </a:schemeClr>
                </a:solidFill>
              </a:rPr>
              <a:t> Determines bus voltages and voltage angles at all buses.</a:t>
            </a:r>
          </a:p>
          <a:p>
            <a:pPr marL="285750" indent="-285750" algn="just">
              <a:buFont typeface="Arial" panose="020B0604020202020204" pitchFamily="34" charset="0"/>
              <a:buChar char="•"/>
            </a:pPr>
            <a:r>
              <a:rPr lang="en-US" sz="2000">
                <a:solidFill>
                  <a:schemeClr val="bg1">
                    <a:lumMod val="95000"/>
                  </a:schemeClr>
                </a:solidFill>
              </a:rPr>
              <a:t> Calculates active and reactive power flow in transmission lines.</a:t>
            </a:r>
          </a:p>
          <a:p>
            <a:pPr marL="285750" indent="-285750" algn="just">
              <a:buFont typeface="Arial" panose="020B0604020202020204" pitchFamily="34" charset="0"/>
              <a:buChar char="•"/>
            </a:pPr>
            <a:r>
              <a:rPr lang="en-US" sz="2000">
                <a:solidFill>
                  <a:schemeClr val="bg1">
                    <a:lumMod val="95000"/>
                  </a:schemeClr>
                </a:solidFill>
              </a:rPr>
              <a:t>Identifies transmission line losses.</a:t>
            </a:r>
          </a:p>
          <a:p>
            <a:pPr marL="285750" indent="-285750" algn="just">
              <a:buFont typeface="Arial" panose="020B0604020202020204" pitchFamily="34" charset="0"/>
              <a:buChar char="•"/>
            </a:pPr>
            <a:r>
              <a:rPr lang="en-US" sz="2000">
                <a:solidFill>
                  <a:schemeClr val="bg1">
                    <a:lumMod val="95000"/>
                  </a:schemeClr>
                </a:solidFill>
              </a:rPr>
              <a:t> Helps in system planning, operation, and expansion.</a:t>
            </a:r>
          </a:p>
          <a:p>
            <a:pPr marL="285750" indent="-285750" algn="just">
              <a:buFont typeface="Arial" panose="020B0604020202020204" pitchFamily="34" charset="0"/>
              <a:buChar char="•"/>
            </a:pPr>
            <a:r>
              <a:rPr lang="en-US" sz="2000">
                <a:solidFill>
                  <a:schemeClr val="bg1">
                    <a:lumMod val="95000"/>
                  </a:schemeClr>
                </a:solidFill>
              </a:rPr>
              <a:t> Improves voltage regulation and system stability.</a:t>
            </a:r>
            <a:endParaRPr lang="en-IN" sz="2000">
              <a:solidFill>
                <a:schemeClr val="bg1">
                  <a:lumMod val="95000"/>
                </a:schemeClr>
              </a:solidFill>
            </a:endParaRPr>
          </a:p>
        </p:txBody>
      </p:sp>
    </p:spTree>
    <p:extLst>
      <p:ext uri="{BB962C8B-B14F-4D97-AF65-F5344CB8AC3E}">
        <p14:creationId xmlns:p14="http://schemas.microsoft.com/office/powerpoint/2010/main" val="1073601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3E06-8BEA-1DD3-D0D6-391C08880EBF}"/>
              </a:ext>
            </a:extLst>
          </p:cNvPr>
          <p:cNvSpPr>
            <a:spLocks noGrp="1"/>
          </p:cNvSpPr>
          <p:nvPr>
            <p:ph type="title"/>
          </p:nvPr>
        </p:nvSpPr>
        <p:spPr>
          <a:xfrm>
            <a:off x="741680" y="430482"/>
            <a:ext cx="10500989" cy="1327464"/>
          </a:xfrm>
        </p:spPr>
        <p:txBody>
          <a:bodyPr/>
          <a:lstStyle/>
          <a:p>
            <a:r>
              <a:rPr lang="en-US"/>
              <a:t>APPLICATIONS:</a:t>
            </a:r>
          </a:p>
        </p:txBody>
      </p:sp>
      <p:sp>
        <p:nvSpPr>
          <p:cNvPr id="5" name="Slide Number Placeholder 4">
            <a:extLst>
              <a:ext uri="{FF2B5EF4-FFF2-40B4-BE49-F238E27FC236}">
                <a16:creationId xmlns:a16="http://schemas.microsoft.com/office/drawing/2014/main" id="{E87B8B6A-2B28-5C38-80E7-0EBE705FFBBF}"/>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9</a:t>
            </a:fld>
            <a:endParaRPr lang="en-US"/>
          </a:p>
        </p:txBody>
      </p:sp>
      <p:sp>
        <p:nvSpPr>
          <p:cNvPr id="18" name="TextBox 17">
            <a:extLst>
              <a:ext uri="{FF2B5EF4-FFF2-40B4-BE49-F238E27FC236}">
                <a16:creationId xmlns:a16="http://schemas.microsoft.com/office/drawing/2014/main" id="{57E78D81-13D6-66DC-89EA-BF74189F710C}"/>
              </a:ext>
            </a:extLst>
          </p:cNvPr>
          <p:cNvSpPr txBox="1"/>
          <p:nvPr/>
        </p:nvSpPr>
        <p:spPr>
          <a:xfrm>
            <a:off x="741680" y="2161617"/>
            <a:ext cx="10888909" cy="2862322"/>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a:solidFill>
                  <a:schemeClr val="bg1"/>
                </a:solidFill>
              </a:rPr>
              <a:t> </a:t>
            </a:r>
            <a:r>
              <a:rPr lang="en-US" sz="2000" b="1">
                <a:solidFill>
                  <a:schemeClr val="bg1"/>
                </a:solidFill>
              </a:rPr>
              <a:t>Power System Planning </a:t>
            </a:r>
            <a:r>
              <a:rPr lang="en-US" sz="2000">
                <a:solidFill>
                  <a:schemeClr val="bg1"/>
                </a:solidFill>
              </a:rPr>
              <a:t>– Used to design and expand electrical power networks.</a:t>
            </a:r>
          </a:p>
          <a:p>
            <a:pPr marL="342900" indent="-342900" algn="just">
              <a:buFont typeface="Wingdings" panose="05000000000000000000" pitchFamily="2" charset="2"/>
              <a:buChar char="q"/>
            </a:pPr>
            <a:r>
              <a:rPr lang="en-US" sz="2000" b="1">
                <a:solidFill>
                  <a:schemeClr val="bg1"/>
                </a:solidFill>
              </a:rPr>
              <a:t>Power System Operation </a:t>
            </a:r>
            <a:r>
              <a:rPr lang="en-US" sz="2000">
                <a:solidFill>
                  <a:schemeClr val="bg1"/>
                </a:solidFill>
              </a:rPr>
              <a:t>– Monitors and analyzes system performance under normal conditions.</a:t>
            </a:r>
          </a:p>
          <a:p>
            <a:pPr marL="342900" indent="-342900" algn="just">
              <a:buFont typeface="Wingdings" panose="05000000000000000000" pitchFamily="2" charset="2"/>
              <a:buChar char="q"/>
            </a:pPr>
            <a:r>
              <a:rPr lang="en-US" sz="2000">
                <a:solidFill>
                  <a:schemeClr val="bg1"/>
                </a:solidFill>
              </a:rPr>
              <a:t> </a:t>
            </a:r>
            <a:r>
              <a:rPr lang="en-US" sz="2000" b="1">
                <a:solidFill>
                  <a:schemeClr val="bg1"/>
                </a:solidFill>
              </a:rPr>
              <a:t>Protection System Design </a:t>
            </a:r>
            <a:r>
              <a:rPr lang="en-US" sz="2000">
                <a:solidFill>
                  <a:schemeClr val="bg1"/>
                </a:solidFill>
              </a:rPr>
              <a:t>– Determines relay settings and circuit breaker ratings.</a:t>
            </a:r>
          </a:p>
          <a:p>
            <a:pPr marL="342900" indent="-342900" algn="just">
              <a:buFont typeface="Wingdings" panose="05000000000000000000" pitchFamily="2" charset="2"/>
              <a:buChar char="q"/>
            </a:pPr>
            <a:r>
              <a:rPr lang="en-US" sz="2000" b="1">
                <a:solidFill>
                  <a:schemeClr val="bg1"/>
                </a:solidFill>
              </a:rPr>
              <a:t>Fault Detection and Analysis </a:t>
            </a:r>
            <a:r>
              <a:rPr lang="en-US" sz="2000">
                <a:solidFill>
                  <a:schemeClr val="bg1"/>
                </a:solidFill>
              </a:rPr>
              <a:t>– Identifies fault locations and fault current levels.</a:t>
            </a:r>
          </a:p>
          <a:p>
            <a:pPr marL="342900" indent="-342900" algn="just">
              <a:buFont typeface="Wingdings" panose="05000000000000000000" pitchFamily="2" charset="2"/>
              <a:buChar char="q"/>
            </a:pPr>
            <a:r>
              <a:rPr lang="en-US" sz="2000" b="1">
                <a:solidFill>
                  <a:schemeClr val="bg1"/>
                </a:solidFill>
              </a:rPr>
              <a:t>Voltage Stability Studies </a:t>
            </a:r>
            <a:r>
              <a:rPr lang="en-US" sz="2000">
                <a:solidFill>
                  <a:schemeClr val="bg1"/>
                </a:solidFill>
              </a:rPr>
              <a:t>– Evaluates voltage profiles and system stability.</a:t>
            </a:r>
          </a:p>
          <a:p>
            <a:pPr marL="342900" indent="-342900" algn="just">
              <a:buFont typeface="Wingdings" panose="05000000000000000000" pitchFamily="2" charset="2"/>
              <a:buChar char="q"/>
            </a:pPr>
            <a:r>
              <a:rPr lang="en-US" sz="2000" b="1">
                <a:solidFill>
                  <a:schemeClr val="bg1"/>
                </a:solidFill>
              </a:rPr>
              <a:t>Transmission Network Analysis </a:t>
            </a:r>
            <a:r>
              <a:rPr lang="en-US" sz="2000">
                <a:solidFill>
                  <a:schemeClr val="bg1"/>
                </a:solidFill>
              </a:rPr>
              <a:t>– Studies power flow and transmission losses.</a:t>
            </a:r>
          </a:p>
          <a:p>
            <a:pPr marL="342900" indent="-342900" algn="just">
              <a:buFont typeface="Wingdings" panose="05000000000000000000" pitchFamily="2" charset="2"/>
              <a:buChar char="q"/>
            </a:pPr>
            <a:r>
              <a:rPr lang="en-US" sz="2000" b="1">
                <a:solidFill>
                  <a:schemeClr val="bg1"/>
                </a:solidFill>
              </a:rPr>
              <a:t>Educational and Research Purposes </a:t>
            </a:r>
            <a:r>
              <a:rPr lang="en-US" sz="2000">
                <a:solidFill>
                  <a:schemeClr val="bg1"/>
                </a:solidFill>
              </a:rPr>
              <a:t>– Widely used in engineering colleges and research projects.</a:t>
            </a:r>
          </a:p>
          <a:p>
            <a:pPr marL="342900" indent="-342900" algn="just">
              <a:buFont typeface="Wingdings" panose="05000000000000000000" pitchFamily="2" charset="2"/>
              <a:buChar char="q"/>
            </a:pPr>
            <a:r>
              <a:rPr lang="en-US" sz="2000" b="1">
                <a:solidFill>
                  <a:schemeClr val="bg1"/>
                </a:solidFill>
              </a:rPr>
              <a:t>Utility and Industrial Power Systems</a:t>
            </a:r>
            <a:r>
              <a:rPr lang="en-US" sz="2000">
                <a:solidFill>
                  <a:schemeClr val="bg1"/>
                </a:solidFill>
              </a:rPr>
              <a:t> – Assists utilities in maintaining reliable and secure power supply.</a:t>
            </a:r>
            <a:endParaRPr lang="en-IN" sz="2000">
              <a:solidFill>
                <a:schemeClr val="bg1"/>
              </a:solidFill>
            </a:endParaRPr>
          </a:p>
        </p:txBody>
      </p:sp>
    </p:spTree>
    <p:extLst>
      <p:ext uri="{BB962C8B-B14F-4D97-AF65-F5344CB8AC3E}">
        <p14:creationId xmlns:p14="http://schemas.microsoft.com/office/powerpoint/2010/main" val="2728059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810E-8E37-1D8A-245B-020E4E4C0B9F}"/>
              </a:ext>
            </a:extLst>
          </p:cNvPr>
          <p:cNvSpPr>
            <a:spLocks noGrp="1"/>
          </p:cNvSpPr>
          <p:nvPr>
            <p:ph type="title"/>
          </p:nvPr>
        </p:nvSpPr>
        <p:spPr>
          <a:xfrm>
            <a:off x="733562" y="433906"/>
            <a:ext cx="10515601" cy="1327464"/>
          </a:xfrm>
        </p:spPr>
        <p:txBody>
          <a:bodyPr/>
          <a:lstStyle/>
          <a:p>
            <a:r>
              <a:rPr lang="en-US"/>
              <a:t>CONCLUSION:</a:t>
            </a:r>
          </a:p>
        </p:txBody>
      </p:sp>
      <p:sp>
        <p:nvSpPr>
          <p:cNvPr id="4" name="Slide Number Placeholder 3">
            <a:extLst>
              <a:ext uri="{FF2B5EF4-FFF2-40B4-BE49-F238E27FC236}">
                <a16:creationId xmlns:a16="http://schemas.microsoft.com/office/drawing/2014/main" id="{FD1E69EA-A9E8-C521-7C62-DA1F2487991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10</a:t>
            </a:fld>
            <a:endParaRPr lang="en-US"/>
          </a:p>
        </p:txBody>
      </p:sp>
      <p:sp>
        <p:nvSpPr>
          <p:cNvPr id="11" name="TextBox 10">
            <a:extLst>
              <a:ext uri="{FF2B5EF4-FFF2-40B4-BE49-F238E27FC236}">
                <a16:creationId xmlns:a16="http://schemas.microsoft.com/office/drawing/2014/main" id="{134667E1-4BF0-4F50-00C6-DD956C0EBD91}"/>
              </a:ext>
            </a:extLst>
          </p:cNvPr>
          <p:cNvSpPr txBox="1"/>
          <p:nvPr/>
        </p:nvSpPr>
        <p:spPr>
          <a:xfrm>
            <a:off x="983147" y="2542086"/>
            <a:ext cx="10225706" cy="2554545"/>
          </a:xfrm>
          <a:prstGeom prst="rect">
            <a:avLst/>
          </a:prstGeom>
          <a:noFill/>
        </p:spPr>
        <p:txBody>
          <a:bodyPr wrap="square" rtlCol="0">
            <a:spAutoFit/>
          </a:bodyPr>
          <a:lstStyle/>
          <a:p>
            <a:pPr algn="just"/>
            <a:r>
              <a:rPr lang="en-US" sz="2000">
                <a:solidFill>
                  <a:schemeClr val="bg1"/>
                </a:solidFill>
              </a:rPr>
              <a:t>The Load Flow Analysis and Fault analysis of a IEEE 6-BUS Power System using Power World Simulator was successfully performed. Load flow analysis provided important information about bus voltages, power flows, and transmission losses under normal operating conditions. Fault analysis helped determine fault currents and the impact of various faults on the system. The study demonstrated the effectiveness of Power World Simulator in analyzing power system performance, identifying system weaknesses, and improving protection and reliability. Thus, load flow and fault analysis are essential tools for the safe, stable, and efficient operation of electrical power systems.</a:t>
            </a:r>
            <a:endParaRPr lang="en-IN" sz="2000">
              <a:solidFill>
                <a:schemeClr val="bg1"/>
              </a:solidFill>
            </a:endParaRPr>
          </a:p>
        </p:txBody>
      </p:sp>
    </p:spTree>
    <p:extLst>
      <p:ext uri="{BB962C8B-B14F-4D97-AF65-F5344CB8AC3E}">
        <p14:creationId xmlns:p14="http://schemas.microsoft.com/office/powerpoint/2010/main" val="79695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78000">
              <a:schemeClr val="accent6">
                <a:lumMod val="50000"/>
              </a:schemeClr>
            </a:gs>
            <a:gs pos="35040">
              <a:srgbClr val="020B11"/>
            </a:gs>
            <a:gs pos="11979">
              <a:schemeClr val="accent4">
                <a:lumMod val="50000"/>
              </a:schemeClr>
            </a:gs>
            <a:gs pos="0">
              <a:schemeClr val="accent4"/>
            </a:gs>
            <a:gs pos="99000">
              <a:schemeClr val="tx2">
                <a:lumMod val="50000"/>
              </a:schemeClr>
            </a:gs>
          </a:gsLst>
          <a:lin ang="7800000" scaled="0"/>
        </a:gradFill>
        <a:effectLst/>
      </p:bgPr>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CE1ABEC8-43FD-4F21-A7D2-70200D86263C}"/>
              </a:ext>
            </a:extLst>
          </p:cNvPr>
          <p:cNvSpPr>
            <a:spLocks noGrp="1"/>
          </p:cNvSpPr>
          <p:nvPr>
            <p:ph type="title"/>
          </p:nvPr>
        </p:nvSpPr>
        <p:spPr>
          <a:xfrm>
            <a:off x="2427251" y="2438634"/>
            <a:ext cx="8069018" cy="2203704"/>
          </a:xfrm>
        </p:spPr>
        <p:txBody>
          <a:bodyPr/>
          <a:lstStyle/>
          <a:p>
            <a:r>
              <a:rPr lang="en-US" sz="9600"/>
              <a:t>THANK YOU</a:t>
            </a:r>
          </a:p>
        </p:txBody>
      </p:sp>
    </p:spTree>
    <p:extLst>
      <p:ext uri="{BB962C8B-B14F-4D97-AF65-F5344CB8AC3E}">
        <p14:creationId xmlns:p14="http://schemas.microsoft.com/office/powerpoint/2010/main" val="2395464980"/>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 xsi:nil="true"/>
    <Background xmlns="71af3243-3dd4-4a8d-8c0d-dd76da1f02a5" xsi:nil="tru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5301E-11B3-4B9D-A588-21F3C9809371}">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Scientific findings presentation</Template>
  <Application>Microsoft Office PowerPoint</Application>
  <PresentationFormat>Widescreen</PresentationFormat>
  <Slides>11</Slides>
  <Notes>8</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Custom</vt:lpstr>
      <vt:lpstr>PowerPoint Presentation</vt:lpstr>
      <vt:lpstr>CONTENET:</vt:lpstr>
      <vt:lpstr>PowerPoint Presentation</vt:lpstr>
      <vt:lpstr>PowerPoint Presentation</vt:lpstr>
      <vt:lpstr> </vt:lpstr>
      <vt:lpstr>PowerPoint Presentation</vt:lpstr>
      <vt:lpstr>WORKING PRINCIPLE</vt:lpstr>
      <vt:lpstr>ADVANTAGES</vt:lpstr>
      <vt:lpstr>APPLICATIONS: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Preeti Yalagar</cp:lastModifiedBy>
  <cp:revision>2</cp:revision>
  <dcterms:created xsi:type="dcterms:W3CDTF">2026-05-30T09:15:04Z</dcterms:created>
  <dcterms:modified xsi:type="dcterms:W3CDTF">2026-07-25T17:41:24Z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